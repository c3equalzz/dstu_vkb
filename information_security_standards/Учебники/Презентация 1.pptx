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  <p:sldMasterId id="2147483662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09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83339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606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0352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5973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46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5061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8297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4581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6604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7623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2889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057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040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4630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235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7301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2713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4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  <a:defRPr sz="24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None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ctr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None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ctr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ctr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None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ctr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None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ctr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None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dt" idx="10"/>
          </p:nvPr>
        </p:nvSpPr>
        <p:spPr>
          <a:xfrm>
            <a:off x="6705600" y="4206875"/>
            <a:ext cx="9604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ftr" idx="11"/>
          </p:nvPr>
        </p:nvSpPr>
        <p:spPr>
          <a:xfrm>
            <a:off x="5410200" y="4205287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12"/>
          </p:nvPr>
        </p:nvSpPr>
        <p:spPr>
          <a:xfrm>
            <a:off x="8320087" y="1587"/>
            <a:ext cx="747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 rot="5400000">
            <a:off x="4991100" y="2933700"/>
            <a:ext cx="54864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 rot="5400000">
            <a:off x="838200" y="762000"/>
            <a:ext cx="5486400" cy="6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 rot="5400000">
            <a:off x="2409825" y="296862"/>
            <a:ext cx="432435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 rot="-5400000">
            <a:off x="3393017" y="3156577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None/>
              <a:defRPr sz="2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7"/>
          <p:cNvSpPr>
            <a:spLocks noGrp="1"/>
          </p:cNvSpPr>
          <p:nvPr>
            <p:ph type="pic" idx="2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w="508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31750" dir="48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Georgia"/>
              <a:buNone/>
              <a:defRPr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body" idx="1"/>
          </p:nvPr>
        </p:nvSpPr>
        <p:spPr>
          <a:xfrm>
            <a:off x="6088443" y="3274308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00" bIns="45700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Georgia"/>
              <a:buNone/>
              <a:defRPr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eorgia"/>
              <a:buNone/>
              <a:defRPr sz="12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Georgia"/>
              <a:buNone/>
              <a:defRPr sz="9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  <a:defRPr sz="18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5353496" y="2010727"/>
            <a:ext cx="3383280" cy="461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None/>
              <a:defRPr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Georgia"/>
              <a:buNone/>
              <a:defRPr sz="12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Georgia"/>
              <a:buNone/>
              <a:defRPr sz="9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body" idx="2"/>
          </p:nvPr>
        </p:nvSpPr>
        <p:spPr>
          <a:xfrm>
            <a:off x="152400" y="776287"/>
            <a:ext cx="5102352" cy="585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Georgia"/>
              <a:buChar char="•"/>
              <a:defRPr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4064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Char char="▫"/>
              <a:defRPr sz="28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⚫"/>
              <a:defRPr sz="20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body" idx="1"/>
          </p:nvPr>
        </p:nvSpPr>
        <p:spPr>
          <a:xfrm>
            <a:off x="457200" y="224942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•"/>
              <a:defRPr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492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Georgia"/>
              <a:buChar char="▫"/>
              <a:defRPr sz="19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body" idx="2"/>
          </p:nvPr>
        </p:nvSpPr>
        <p:spPr>
          <a:xfrm>
            <a:off x="4648200" y="224942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•"/>
              <a:defRPr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492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Georgia"/>
              <a:buChar char="▫"/>
              <a:defRPr sz="19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Trebuchet MS"/>
              <a:buNone/>
              <a:defRPr sz="4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Georgia"/>
              <a:buNone/>
              <a:defRPr sz="2100" b="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eorgia"/>
              <a:buNone/>
              <a:defRPr sz="18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None/>
              <a:defRPr sz="14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328D96">
              <a:alpha val="24705"/>
            </a:srgbClr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Georgia"/>
              <a:buNone/>
              <a:defRPr sz="1900" b="1" i="0" u="none" strike="noStrike" cap="none">
                <a:solidFill>
                  <a:srgbClr val="41414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sz="1800" b="1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None/>
              <a:defRPr sz="1600" b="1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body" idx="2"/>
          </p:nvPr>
        </p:nvSpPr>
        <p:spPr>
          <a:xfrm>
            <a:off x="4721225" y="2244970"/>
            <a:ext cx="4041775" cy="457200"/>
          </a:xfrm>
          <a:prstGeom prst="rect">
            <a:avLst/>
          </a:prstGeom>
          <a:solidFill>
            <a:srgbClr val="328D96">
              <a:alpha val="24705"/>
            </a:srgbClr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Georgia"/>
              <a:buNone/>
              <a:defRPr sz="1900" b="1" i="0" u="none" strike="noStrike" cap="none">
                <a:solidFill>
                  <a:srgbClr val="41414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sz="1800" b="1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None/>
              <a:defRPr sz="1600" b="1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3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  <a:defRPr sz="16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4"/>
          </p:nvPr>
        </p:nvSpPr>
        <p:spPr>
          <a:xfrm>
            <a:off x="4718304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⚫"/>
              <a:defRPr sz="16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 rot="10800000" flipH="1">
            <a:off x="5410200" y="3810000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" name="Google Shape;7;p1"/>
          <p:cNvSpPr txBox="1"/>
          <p:nvPr/>
        </p:nvSpPr>
        <p:spPr>
          <a:xfrm rot="10800000" flipH="1">
            <a:off x="5410200" y="3897312"/>
            <a:ext cx="3733800" cy="19208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" name="Google Shape;8;p1"/>
          <p:cNvSpPr txBox="1"/>
          <p:nvPr/>
        </p:nvSpPr>
        <p:spPr>
          <a:xfrm rot="10800000" flipH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" name="Google Shape;9;p1"/>
          <p:cNvSpPr txBox="1"/>
          <p:nvPr/>
        </p:nvSpPr>
        <p:spPr>
          <a:xfrm rot="10800000" flipH="1">
            <a:off x="5410200" y="4164012"/>
            <a:ext cx="1965325" cy="19050"/>
          </a:xfrm>
          <a:prstGeom prst="rect">
            <a:avLst/>
          </a:prstGeom>
          <a:solidFill>
            <a:schemeClr val="accent2">
              <a:alpha val="59607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" name="Google Shape;10;p1"/>
          <p:cNvSpPr txBox="1"/>
          <p:nvPr/>
        </p:nvSpPr>
        <p:spPr>
          <a:xfrm rot="10800000" flipH="1">
            <a:off x="5410200" y="4198937"/>
            <a:ext cx="1965325" cy="9525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5410200" y="3962400"/>
            <a:ext cx="3063875" cy="2698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7377112" y="4060825"/>
            <a:ext cx="1600200" cy="365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3649662"/>
            <a:ext cx="9144000" cy="2444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3675062"/>
            <a:ext cx="9144000" cy="141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" name="Google Shape;15;p1"/>
          <p:cNvSpPr txBox="1"/>
          <p:nvPr/>
        </p:nvSpPr>
        <p:spPr>
          <a:xfrm rot="10800000" flipH="1">
            <a:off x="6413500" y="3643312"/>
            <a:ext cx="2730500" cy="247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1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dt" idx="10"/>
          </p:nvPr>
        </p:nvSpPr>
        <p:spPr>
          <a:xfrm>
            <a:off x="6705600" y="4206875"/>
            <a:ext cx="9604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0" name="Google Shape;20;p1"/>
          <p:cNvSpPr txBox="1">
            <a:spLocks noGrp="1"/>
          </p:cNvSpPr>
          <p:nvPr>
            <p:ph type="ftr" idx="11"/>
          </p:nvPr>
        </p:nvSpPr>
        <p:spPr>
          <a:xfrm>
            <a:off x="5410200" y="4205287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1" name="Google Shape;21;p1"/>
          <p:cNvSpPr txBox="1">
            <a:spLocks noGrp="1"/>
          </p:cNvSpPr>
          <p:nvPr>
            <p:ph type="sldNum" idx="12"/>
          </p:nvPr>
        </p:nvSpPr>
        <p:spPr>
          <a:xfrm>
            <a:off x="8320087" y="1587"/>
            <a:ext cx="747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  <a:defRPr sz="1800" b="0" i="0" u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3"/>
          <p:cNvSpPr txBox="1"/>
          <p:nvPr/>
        </p:nvSpPr>
        <p:spPr>
          <a:xfrm rot="10800000" flipH="1">
            <a:off x="5410200" y="360362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3"/>
          <p:cNvSpPr txBox="1"/>
          <p:nvPr/>
        </p:nvSpPr>
        <p:spPr>
          <a:xfrm rot="10800000" flipH="1">
            <a:off x="5410200" y="439737"/>
            <a:ext cx="3733800" cy="1809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" name="Google Shape;42;p3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12"/>
          <p:cNvSpPr txBox="1"/>
          <p:nvPr/>
        </p:nvSpPr>
        <p:spPr>
          <a:xfrm rot="10800000" flipH="1">
            <a:off x="5410200" y="360362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12"/>
          <p:cNvSpPr txBox="1"/>
          <p:nvPr/>
        </p:nvSpPr>
        <p:spPr>
          <a:xfrm rot="10800000" flipH="1">
            <a:off x="5410200" y="439737"/>
            <a:ext cx="3733800" cy="1809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" name="Google Shape;110;p12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dt" idx="10"/>
          </p:nvPr>
        </p:nvSpPr>
        <p:spPr>
          <a:xfrm>
            <a:off x="6586537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3" name="Google Shape;113;p12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0" y="366712"/>
            <a:ext cx="9144000" cy="8413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 rot="10800000" flipH="1">
            <a:off x="5410200" y="360362"/>
            <a:ext cx="3733800" cy="90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 rot="10800000" flipH="1">
            <a:off x="5410200" y="439737"/>
            <a:ext cx="3733800" cy="18097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5407025" y="496887"/>
            <a:ext cx="3063875" cy="2857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7373937" y="588962"/>
            <a:ext cx="1600200" cy="365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9085262" y="-1587"/>
            <a:ext cx="57150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9043987" y="-1587"/>
            <a:ext cx="2857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9024937" y="-1587"/>
            <a:ext cx="9525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8975725" y="-1587"/>
            <a:ext cx="26987" cy="620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8915400" y="0"/>
            <a:ext cx="55562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874125" y="0"/>
            <a:ext cx="7937" cy="58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14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937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810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⚫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68300" algn="l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⚫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302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dt" idx="10"/>
          </p:nvPr>
        </p:nvSpPr>
        <p:spPr>
          <a:xfrm>
            <a:off x="6583362" y="612775"/>
            <a:ext cx="957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ftr" idx="11"/>
          </p:nvPr>
        </p:nvSpPr>
        <p:spPr>
          <a:xfrm>
            <a:off x="5257800" y="612775"/>
            <a:ext cx="1325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174037" y="1587"/>
            <a:ext cx="76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  <a:defRPr sz="1800" b="0" i="0" u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209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Стандарты информационной безопасности:</a:t>
            </a:r>
            <a:br>
              <a:rPr lang="en-US" sz="40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</a:t>
            </a:r>
            <a:br>
              <a:rPr lang="en-US" sz="40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Цели изучения темы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изучить основные положения международного стандарта ISO/IEC 15408 по оценке защищенности информационных систем.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к знаниям и умениям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основное содержание оценочного стандарта ISO/IEC 15408;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отличия функциональных требований от требований доверия;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 функциональных требований и требований доверия.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должен уметь: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использовать стандарт для оценки защищенности информационных систем.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Ключевой термин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Ключевой термин: стандарт ISO/IEC 15408 "Критерии оценки безопасности информационных технологий".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Стандарт ISO/IEC 15408 "Критерии оценки безопасности информационных технологий" (издан 1 декабря 1999 года) относится к оценочным стандартам. "Общие критерии" – метастандарт, определяющий инструменты оценки безопасности информационных систем и порядок их использования.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Второстепенные термины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требования;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1800"/>
              <a:buFont typeface="Georgia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доверия.</a:t>
            </a:r>
            <a:endParaRPr/>
          </a:p>
          <a:p>
            <a:pPr marL="365760" marR="0" lvl="0" indent="-1417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>
            <a:spLocks noGrp="1"/>
          </p:cNvSpPr>
          <p:nvPr>
            <p:ph type="title"/>
          </p:nvPr>
        </p:nvSpPr>
        <p:spPr>
          <a:xfrm>
            <a:off x="457200" y="620712"/>
            <a:ext cx="8229600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безопасности к информационным системам</a:t>
            </a:r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63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Стандарт ISO/IEC 15408 "Критерии оценки безопасности информационных технологий" (издан 1 декабря 1999 года) относится к оценочным стандартам. Этот международный стандарт стал итогом почти десятилетней работы специалистов нескольких стран. Он вобрал в себя опыт существовавших к тому времени документов национального и межнационального масштаба. Именно поэтому этот стандарт очень часто называют "Общими критериями".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являются метастандартом, определяющим инструменты оценки безопасности информационных систем и порядок их использования.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и "Оранжевая книга", "Общие критерии" содержат два основных вида требований безопасности: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соответствуют активному аспекту защиты – предъявляемые к функциям безопасности и реализующим их механизмам;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доверия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соответствуют пассивному аспекту – предъявляемые к технологии и процессу разработки и эксплуатации.</a:t>
            </a:r>
            <a:endParaRPr/>
          </a:p>
          <a:p>
            <a:pPr marL="365760" marR="0" lvl="0" indent="-1290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body" idx="1"/>
          </p:nvPr>
        </p:nvSpPr>
        <p:spPr>
          <a:xfrm>
            <a:off x="457200" y="765175"/>
            <a:ext cx="8229600" cy="536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отличие от "Оранжевой книги", "Общие критерии" не содержат предопределенных "классов безопасности". Такие классы можно строить, исходя из требований безопасности, существующих для конкретной организации и/или конкретной информационной системы.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Очень важно, что безопасность в "Общих критериях" рассматривается не статично, а в привязке к жизненному циклу объекта оценки.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Угрозы безопасности в стандарте характеризуются следующими параметрами: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источник угрозы;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 воздействия;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уязвимые места, которые могут быть использованы;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ресурсы (активы), которые могут пострадать.</a:t>
            </a:r>
            <a:endParaRPr/>
          </a:p>
          <a:p>
            <a:pPr marL="365760" marR="0" lvl="0" indent="-909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Georgia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иерархии: класс – семейство – компонент – элемент</a:t>
            </a:r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body" idx="1"/>
          </p:nvPr>
        </p:nvSpPr>
        <p:spPr>
          <a:xfrm>
            <a:off x="457200" y="1700212"/>
            <a:ext cx="8229600" cy="475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структуризации пространства требований, в "Общих критериях" введена иерархия класс – семейство – компонент – элемент.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определяют наиболее общую, "предметную" группировку требований (например, функциональные требования подотчетности).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Семейства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пределах класса различаются по строгости и другим тонкостям требований.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Компонент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минимальный набор требований, фигурирующий как целое.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Элемент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неделимое требование.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Между компонентами могут существовать зависимости, которые возникают, когда компонент сам по себе недостаточен для достижения цели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Подобный принцип организации защиты напоминает принцип программирования с использованием библиотек, в которых содержатся стандартные (часто используемые) функции, из комбинаций которых формируется алгоритм решения.</a:t>
            </a:r>
            <a:endParaRPr/>
          </a:p>
          <a:p>
            <a:pPr marL="365760" marR="0" lvl="0" indent="-1290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>
            <a:spLocks noGrp="1"/>
          </p:cNvSpPr>
          <p:nvPr>
            <p:ph type="body" idx="1"/>
          </p:nvPr>
        </p:nvSpPr>
        <p:spPr>
          <a:xfrm>
            <a:off x="457200" y="836612"/>
            <a:ext cx="8229600" cy="528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позволяют с помощью подобных библиотек (компонент) формировать два вида нормативных документов: профиль защиты и задание по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Профиль защиты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представляет собой типовой набор требований, которым должны удовлетворять продукты и/или системы определенного класса (например, операционные системы на компьютерах в правительственных организациях).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Задание по безопасности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содержит совокупность требований к конкретной разработке, выполнение которых обеспечивает достижение поставленных целей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Функциональный пакет – это неоднократно используемая совокупность компонентов, объединенных для достижения определенных целей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Базовый профиль защиты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должен включать требования к основным (обязательным в любом случае) возможностям. Производные профили получаются из базового путем добавления необходимых пакетов расширения, то есть подобно тому, как создаются производные классы в объектно-ориентированных языках программирования.</a:t>
            </a:r>
            <a:endParaRPr/>
          </a:p>
          <a:p>
            <a:pPr marL="365760" marR="0" lvl="0" indent="-1290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требования</a:t>
            </a:r>
            <a:endParaRPr/>
          </a:p>
        </p:txBody>
      </p:sp>
      <p:sp>
        <p:nvSpPr>
          <p:cNvPr id="186" name="Google Shape;186;p22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требования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объединены в группы на основе выполняемой ими роли или обслуживаемой цели безопасности. Всего в "Общих критериях" представлено 11 функциональных классов, 66 семейств, 135 компонентов. Это гораздо больше, чем число аналогичных понятий в "Оранжевой книге".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включают следующие классы функциональных требований: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Идентификация и аутентификация.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Защита данных пользователя.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Защита функций безопасности (требования относятся к целостности и контролю данных сервисов безопасности и реализующих их механизмов).</a:t>
            </a:r>
            <a:endParaRPr/>
          </a:p>
          <a:p>
            <a:pPr marL="365760" marR="0" lvl="0" indent="-1036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>
            <a:spLocks noGrp="1"/>
          </p:cNvSpPr>
          <p:nvPr>
            <p:ph type="body" idx="1"/>
          </p:nvPr>
        </p:nvSpPr>
        <p:spPr>
          <a:xfrm>
            <a:off x="457200" y="765175"/>
            <a:ext cx="8229600" cy="536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безопасностью (требования этого класса относятся к управлению атрибутами и параметрами безопасности).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Аудит безопасности (выявление, регистрация, хранение, анализ данных, затрагивающих безопасность объекта оценки, реагирование на возможное нарушение безопасности).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Доступ к объекту оценки.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Приватность (защита пользователя от раскрытия и несанкционированного использования его идентификационных данных).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Использование ресурсов (требования к доступности информации).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Криптографическая поддержка (управление ключами).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Связь (аутентификация сторон, участвующих в обмене данными).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200"/>
              <a:buFont typeface="Georgia"/>
              <a:buChar char="•"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Доверенный маршрут/канал (для связи с сервисами безопасности).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>
            <a:spLocks noGrp="1"/>
          </p:cNvSpPr>
          <p:nvPr>
            <p:ph type="body" idx="1"/>
          </p:nvPr>
        </p:nvSpPr>
        <p:spPr>
          <a:xfrm>
            <a:off x="457200" y="1052512"/>
            <a:ext cx="8229600" cy="507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Рассмотрим содержание одного из классов.</a:t>
            </a:r>
            <a:endParaRPr/>
          </a:p>
          <a:p>
            <a:pPr marL="365125" marR="0" lvl="0" indent="-255587" algn="l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 функциональных требований "Использование ресурсов" включает три семейства.</a:t>
            </a:r>
            <a:endParaRPr/>
          </a:p>
          <a:p>
            <a:pPr marL="365125" marR="0" lvl="0" indent="-255587" algn="l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Отказоустойчивость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Требования этого семейства направлены на сохранение доступности информационных сервисов даже в случае сбоя или отказа. В стандарте различаются активная и пассивная отказоустойчивость. Активный механизм содержит специальные функции, которые активизируются в случае сбоя. Пассивная отказоустойчивость подразумевает наличие избыточности с возможностью нейтрализации ошибок.</a:t>
            </a:r>
            <a:endParaRPr/>
          </a:p>
          <a:p>
            <a:pPr marL="365125" marR="0" lvl="0" indent="-255587" algn="l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Обслуживание по приоритетам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Выполнение этих требований позволяет управлять использованием ресурсов так, что низкоприоритетные операции не могут помешать высокоприоритетным.</a:t>
            </a:r>
            <a:endParaRPr/>
          </a:p>
          <a:p>
            <a:pPr marL="365760" marR="0" lvl="0" indent="-1036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Georgia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Распределение ресурсов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Требования направлены на защиту (путем применения механизма квот) от несанкционированной монополизации ресурсов.</a:t>
            </a:r>
            <a:endParaRPr/>
          </a:p>
          <a:p>
            <a:pPr marL="365125" marR="0" lvl="0" indent="-25558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Аналогично и другие классы включают наборы семейств требований, которые используются для формулировки требований к системе безопасности.</a:t>
            </a:r>
            <a:endParaRPr/>
          </a:p>
          <a:p>
            <a:pPr marL="365125" marR="0" lvl="0" indent="-25558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600"/>
              <a:buFont typeface="Georgia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– достаточно продуманный и полный документ с точки зрения функциональных требований и именно на этот стандарт безопасности ориентируются соответствующие организации в нашей стране и в первую очередь Гостехкомиссия РФ.</a:t>
            </a:r>
            <a:endParaRPr/>
          </a:p>
          <a:p>
            <a:pPr marL="365760" marR="0" lvl="0" indent="-909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Georgia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доверия</a:t>
            </a:r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511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Вторая форма требований безопасности в "Общих критериях" – требования доверия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Установление доверия безопасности основывается на активном исследовании объекта оценки.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Форма представления требований доверия, та же, что и для функциональных требований (класс – семейство – компонент).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Всего в "Общих критериях" 10 классов, 44 семейства, 93 компонента требований доверия безопасности.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 требований доверия безопасности:</a:t>
            </a:r>
            <a:endParaRPr sz="23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300"/>
              <a:buFont typeface="Georgia"/>
              <a:buChar char="•"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(требования для поэтапной детализации функций безопасности от краткой спецификации до реализации).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300"/>
              <a:buFont typeface="Georgia"/>
              <a:buChar char="•"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Поддержка жизненного цикла (требования к модели жизненного цикла, включая порядок устранения недостатков и защиту среды разработки).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300"/>
              <a:buFont typeface="Georgia"/>
              <a:buChar char="•"/>
            </a:pPr>
            <a:r>
              <a:rPr lang="en-US" sz="2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Тестирование.</a:t>
            </a:r>
            <a:endParaRPr/>
          </a:p>
          <a:p>
            <a:pPr marL="365760" marR="0" lvl="0" indent="-10998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Georgia"/>
              <a:buNone/>
            </a:pPr>
            <a:endParaRPr sz="23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body" idx="1"/>
          </p:nvPr>
        </p:nvSpPr>
        <p:spPr>
          <a:xfrm>
            <a:off x="457200" y="1341437"/>
            <a:ext cx="8229600" cy="4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уязвимостей (включая оценку стойкости функций безопасности).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Поставка и эксплуатация.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конфигурацией.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Руководства (требования к эксплуатационной документации).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Поддержка доверия (для поддержки этапов жизненного цикла после сертификации).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профиля защиты.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Georgia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задания по безопасности.</a:t>
            </a:r>
            <a:endParaRPr/>
          </a:p>
          <a:p>
            <a:pPr marL="365760" marR="0" lvl="0" indent="-782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457200" y="1268412"/>
            <a:ext cx="8229600" cy="439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Georgia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Применительно к требованиям доверия (для функциональных требований не предусмотрены) в "Общих критериях" введены оценочные уровни доверия (их семь), содержащие осмысленные комбинации компонентов.</a:t>
            </a:r>
            <a:endParaRPr/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Georgia"/>
              <a:buNone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Степень доверия возрастает от первого к седьмому уровню. Так, оценочный уровень доверия 1 (начальный) применяется, когда угрозы не рассматриваются как серьезные, а оценочный уровень 7 применяется к ситуациям чрезвычайно высокого риска.</a:t>
            </a:r>
            <a:endParaRPr/>
          </a:p>
          <a:p>
            <a:pPr marL="365760" marR="0" lvl="0" indent="-909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Georgia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Выводы по теме</a:t>
            </a:r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1"/>
          </p:nvPr>
        </p:nvSpPr>
        <p:spPr>
          <a:xfrm>
            <a:off x="457200" y="2249487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Стандарт ISO/IEC 15408 "Критерии оценки безопасности информационных технологий" (издан 1 декабря 1999 года) относится к оценочным стандартам.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являются стандартом, определяющим инструменты оценки безопасности информационных систем и порядок их использования.</a:t>
            </a:r>
            <a:endParaRPr/>
          </a:p>
          <a:p>
            <a:pPr marL="365125" marR="0" lvl="0" indent="-255587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400"/>
              <a:buFont typeface="Georgia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"Общие критерии" содержат два основных вида требований безопасности:</a:t>
            </a:r>
            <a:endParaRPr/>
          </a:p>
          <a:p>
            <a:pPr marL="657225" marR="0" lvl="1" indent="-246062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Georgia"/>
              <a:buChar char="▫"/>
            </a:pPr>
            <a:r>
              <a:rPr lang="en-US" sz="2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– соответствуют активному аспекту защиты – предъявляемые к функциям безопасности и реализующим их механизмам;</a:t>
            </a:r>
            <a:endParaRPr/>
          </a:p>
          <a:p>
            <a:pPr marL="657225" marR="0" lvl="1" indent="-246062" algn="just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Georgia"/>
              <a:buChar char="▫"/>
            </a:pPr>
            <a:r>
              <a:rPr lang="en-US" sz="2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доверия – соответствуют пассивному аспекту – предъявляемые к технологии и процессу разработки и эксплуатации.</a:t>
            </a:r>
            <a:endParaRPr/>
          </a:p>
          <a:p>
            <a:pPr marL="365760" marR="0" lvl="0" indent="-1163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Georgia"/>
              <a:buNone/>
            </a:pPr>
            <a:endParaRPr sz="22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>
            <a:spLocks noGrp="1"/>
          </p:cNvSpPr>
          <p:nvPr>
            <p:ph type="body" idx="1"/>
          </p:nvPr>
        </p:nvSpPr>
        <p:spPr>
          <a:xfrm>
            <a:off x="457200" y="69215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Угрозы безопасности в стандарте характеризуются следующими параметрами:</a:t>
            </a:r>
            <a:endParaRPr/>
          </a:p>
          <a:p>
            <a:pPr marL="657225" marR="0" lvl="1" indent="-246062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источник угрозы;</a:t>
            </a:r>
            <a:endParaRPr/>
          </a:p>
          <a:p>
            <a:pPr marL="657225" marR="0" lvl="1" indent="-246062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метод воздействия;</a:t>
            </a:r>
            <a:endParaRPr/>
          </a:p>
          <a:p>
            <a:pPr marL="657225" marR="0" lvl="1" indent="-246062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уязвимые места, которые могут быть использованы;</a:t>
            </a:r>
            <a:endParaRPr/>
          </a:p>
          <a:p>
            <a:pPr marL="657225" marR="0" lvl="1" indent="-246062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Char char="▫"/>
            </a:pPr>
            <a:r>
              <a:rPr lang="en-US" sz="20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ресурсы (активы), которые могут пострадать.</a:t>
            </a:r>
            <a:endParaRPr/>
          </a:p>
          <a:p>
            <a:pPr marL="365125" marR="0" lvl="0" indent="-255587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структуризации пространства требований в "Общих критериях" введена иерархия класс – семейство – компонент – элемент.</a:t>
            </a:r>
            <a:endParaRPr/>
          </a:p>
          <a:p>
            <a:pPr marL="365125" marR="0" lvl="0" indent="-255587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определяют наиболее общую, "предметную" группировку требований (например, функциональные требования подотчетности).</a:t>
            </a:r>
            <a:endParaRPr/>
          </a:p>
          <a:p>
            <a:pPr marL="365125" marR="0" lvl="0" indent="-255587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Семейства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пределах класса различаются по строгости и другим тонкостям требований.</a:t>
            </a:r>
            <a:endParaRPr/>
          </a:p>
          <a:p>
            <a:pPr marL="365125" marR="0" lvl="0" indent="-255587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Компонент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минимальный набор требований, фигурирующий как целое.</a:t>
            </a:r>
            <a:endParaRPr/>
          </a:p>
          <a:p>
            <a:pPr marL="365125" marR="0" lvl="0" indent="-255587" algn="just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000"/>
              <a:buFont typeface="Georgia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Элемент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неделимое требование.</a:t>
            </a:r>
            <a:endParaRPr/>
          </a:p>
          <a:p>
            <a:pPr marL="365760" marR="0" lvl="0" indent="-1290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Georgia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>
            <a:spLocks noGrp="1"/>
          </p:cNvSpPr>
          <p:nvPr>
            <p:ph type="body" idx="1"/>
          </p:nvPr>
        </p:nvSpPr>
        <p:spPr>
          <a:xfrm>
            <a:off x="91440" y="765175"/>
            <a:ext cx="9052560" cy="536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5125" marR="0" lvl="0" indent="-25558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None/>
            </a:pPr>
            <a:r>
              <a:rPr lang="ru-RU" sz="2800" b="1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Вопросы для самоконтроля</a:t>
            </a:r>
            <a:endParaRPr lang="ru-RU" dirty="0" smtClean="0"/>
          </a:p>
          <a:p>
            <a:pPr marL="365125" marR="0" lvl="0" indent="-255587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None/>
            </a:pPr>
            <a:endParaRPr sz="2800" b="1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0" indent="-255587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None/>
            </a:pPr>
            <a:endParaRPr sz="2800" b="1" i="0" u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b="0" i="0" u="none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1. Какие виды требований включает стандарт ISO/IEC 15408?</a:t>
            </a:r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Trebuchet MS"/>
              <a:buAutoNum type="arabicPeriod"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b="0" i="0" u="none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 Чем отличаются функциональные требования от требований доверия?</a:t>
            </a:r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Trebuchet MS"/>
              <a:buAutoNum type="arabicPeriod"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b="0" i="0" u="none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3. В чем заключается иерархический принцип </a:t>
            </a:r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</a:t>
            </a:r>
            <a:r>
              <a:rPr lang="ru-RU" sz="2000" b="0" i="0" u="none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"класс – семейство – компонент – элемент"?</a:t>
            </a:r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4. </a:t>
            </a:r>
            <a:r>
              <a:rPr lang="ru-RU" sz="2000" b="0" i="0" u="none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Какова цель требований по отказоустойчивости информационных систем?</a:t>
            </a:r>
          </a:p>
          <a:p>
            <a:pPr marL="365125" marR="0" lvl="0" indent="-255587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Font typeface="Trebuchet MS"/>
              <a:buAutoNum type="arabicPeriod"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8" marR="0" lvl="0" indent="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04DA3"/>
              </a:buClr>
              <a:buSzPts val="2800"/>
              <a:buNone/>
            </a:pPr>
            <a:r>
              <a:rPr lang="ru-RU" sz="2000" b="0" i="0" u="none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5. Сколько классов функциональных требований?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marR="0" lvl="0" indent="-78232" algn="l" rtl="0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None/>
            </a:pP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Городская">
  <a:themeElements>
    <a:clrScheme name="Городская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Городская">
  <a:themeElements>
    <a:clrScheme name="Городская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Городская">
  <a:themeElements>
    <a:clrScheme name="Городская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Городская">
  <a:themeElements>
    <a:clrScheme name="Городская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1371</Words>
  <Application>Microsoft Office PowerPoint</Application>
  <PresentationFormat>Экран (4:3)</PresentationFormat>
  <Paragraphs>110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Arial</vt:lpstr>
      <vt:lpstr>Georgia</vt:lpstr>
      <vt:lpstr>Noto Sans Symbols</vt:lpstr>
      <vt:lpstr>Times New Roman</vt:lpstr>
      <vt:lpstr>Trebuchet MS</vt:lpstr>
      <vt:lpstr>1_Городская</vt:lpstr>
      <vt:lpstr>Городская</vt:lpstr>
      <vt:lpstr>2_Городская</vt:lpstr>
      <vt:lpstr>3_Городская</vt:lpstr>
      <vt:lpstr>Стандарты информационной безопасности: "Общие критерии" </vt:lpstr>
      <vt:lpstr>Введение</vt:lpstr>
      <vt:lpstr>Требования безопасности к информационным системам</vt:lpstr>
      <vt:lpstr>Презентация PowerPoint</vt:lpstr>
      <vt:lpstr>Принцип иерархии: класс – семейство – компонент – элемент</vt:lpstr>
      <vt:lpstr>Презентация PowerPoint</vt:lpstr>
      <vt:lpstr>Функциональные требования</vt:lpstr>
      <vt:lpstr>Презентация PowerPoint</vt:lpstr>
      <vt:lpstr>Презентация PowerPoint</vt:lpstr>
      <vt:lpstr>Презентация PowerPoint</vt:lpstr>
      <vt:lpstr>Требования доверия</vt:lpstr>
      <vt:lpstr>Презентация PowerPoint</vt:lpstr>
      <vt:lpstr>Презентация PowerPoint</vt:lpstr>
      <vt:lpstr>Выводы по теме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Стандарты информационной безопасности: "Общие критерии" </dc:title>
  <dc:creator>Лариса</dc:creator>
  <cp:lastModifiedBy>Учетная запись Майкрософт</cp:lastModifiedBy>
  <cp:revision>3</cp:revision>
  <dcterms:modified xsi:type="dcterms:W3CDTF">2026-02-01T10:09:20Z</dcterms:modified>
</cp:coreProperties>
</file>