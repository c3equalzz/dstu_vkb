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70" r:id="rId9"/>
    <p:sldId id="264" r:id="rId10"/>
    <p:sldId id="267" r:id="rId11"/>
    <p:sldId id="266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8420C-0924-4B30-885E-130CD60A66A7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B3D9F-CCFB-4AD8-AF74-C28DAA75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547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B3D9F-CCFB-4AD8-AF74-C28DAA75DA3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10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492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35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05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18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10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95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3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97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06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26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07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42B41-A239-4C6E-96C5-B3F4D3E188E8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1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26E6CF-73F8-3C2D-62F5-3BC769342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94595"/>
            <a:ext cx="10782300" cy="1706880"/>
          </a:xfrm>
        </p:spPr>
        <p:txBody>
          <a:bodyPr/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Специалист ФСТЭК – Деревянченко В.П.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42A7D490-B000-43A0-ABC5-866BA8C15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(В рамках 2 практической работы) (Академическая группа – ВКБ51)</a:t>
            </a:r>
          </a:p>
        </p:txBody>
      </p:sp>
    </p:spTree>
    <p:extLst>
      <p:ext uri="{BB962C8B-B14F-4D97-AF65-F5344CB8AC3E}">
        <p14:creationId xmlns:p14="http://schemas.microsoft.com/office/powerpoint/2010/main" val="50575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FBBB0-896F-C292-0022-DB642B7D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4" y="412876"/>
            <a:ext cx="10772775" cy="776987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03CA8-FB28-36DC-CDB5-D232464E5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1244728"/>
            <a:ext cx="10753725" cy="5293232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Цель: Изучить порядок проведения лицензионного контроля ФСТЭК России в области технической защиты конфиденциальной информации, отработать навыки инспектора по проверке лицензиата на соответствие лицензионным требованиям, установленным Постановлением Правительства РФ № 79 от 3 февраля 2012 года.</a:t>
            </a:r>
          </a:p>
          <a:p>
            <a:r>
              <a:rPr lang="ru-RU" b="1" dirty="0"/>
              <a:t>Задачи работы:</a:t>
            </a:r>
          </a:p>
          <a:p>
            <a:pPr>
              <a:buFont typeface="+mj-lt"/>
              <a:buAutoNum type="arabicPeriod"/>
            </a:pPr>
            <a:r>
              <a:rPr lang="ru-RU" dirty="0"/>
              <a:t>Ознакомиться с нормативно-правовой базой, регулирующей деятельность ФСТЭК России в сфере лицензирования и государственного контроля (ПП № 79, ФЗ № 99-ФЗ, ФЗ № 248-ФЗ).</a:t>
            </a:r>
          </a:p>
          <a:p>
            <a:pPr>
              <a:buFont typeface="+mj-lt"/>
              <a:buAutoNum type="arabicPeriod"/>
            </a:pPr>
            <a:r>
              <a:rPr lang="ru-RU" dirty="0"/>
              <a:t>Изучить состав лицензионных требований к организациям, осуществляющим деятельность по технической защите конфиденциальной информации (кадровые, организационные, технические, режимные).</a:t>
            </a:r>
          </a:p>
          <a:p>
            <a:pPr>
              <a:buFont typeface="+mj-lt"/>
              <a:buAutoNum type="arabicPeriod"/>
            </a:pPr>
            <a:r>
              <a:rPr lang="ru-RU" dirty="0"/>
              <a:t>Освоить структуру и назначение документации, оформляемой инспектором ФСТЭК:</a:t>
            </a:r>
            <a:br>
              <a:rPr lang="ru-RU" dirty="0"/>
            </a:br>
            <a:r>
              <a:rPr lang="ru-RU" dirty="0"/>
              <a:t>– распоряжение о проведении проверки;</a:t>
            </a:r>
            <a:br>
              <a:rPr lang="ru-RU" dirty="0"/>
            </a:br>
            <a:r>
              <a:rPr lang="ru-RU" dirty="0"/>
              <a:t>– уведомление лицензиата;</a:t>
            </a:r>
            <a:br>
              <a:rPr lang="ru-RU" dirty="0"/>
            </a:br>
            <a:r>
              <a:rPr lang="ru-RU" dirty="0"/>
              <a:t>– программа проверки;</a:t>
            </a:r>
            <a:br>
              <a:rPr lang="ru-RU" dirty="0"/>
            </a:br>
            <a:r>
              <a:rPr lang="ru-RU" dirty="0"/>
              <a:t>– оценочный лист;</a:t>
            </a:r>
            <a:br>
              <a:rPr lang="ru-RU" dirty="0"/>
            </a:br>
            <a:r>
              <a:rPr lang="ru-RU" dirty="0"/>
              <a:t>– акт проверки;</a:t>
            </a:r>
            <a:br>
              <a:rPr lang="ru-RU" dirty="0"/>
            </a:br>
            <a:r>
              <a:rPr lang="ru-RU" dirty="0"/>
              <a:t>– предписание об устранении нарушений;</a:t>
            </a:r>
            <a:br>
              <a:rPr lang="ru-RU" dirty="0"/>
            </a:br>
            <a:r>
              <a:rPr lang="ru-RU" dirty="0"/>
              <a:t>– заключение по результатам проверки.</a:t>
            </a:r>
          </a:p>
          <a:p>
            <a:pPr>
              <a:buFont typeface="+mj-lt"/>
              <a:buAutoNum type="arabicPeriod"/>
            </a:pPr>
            <a:r>
              <a:rPr lang="ru-RU" dirty="0"/>
              <a:t>На практике смоделировать процесс лицензионной проверки:</a:t>
            </a:r>
            <a:br>
              <a:rPr lang="ru-RU" dirty="0"/>
            </a:br>
            <a:r>
              <a:rPr lang="ru-RU" dirty="0"/>
              <a:t>– анализ представленных документов организации;</a:t>
            </a:r>
            <a:br>
              <a:rPr lang="ru-RU" dirty="0"/>
            </a:br>
            <a:r>
              <a:rPr lang="ru-RU" dirty="0"/>
              <a:t>– опрос ответственных лиц;</a:t>
            </a:r>
            <a:br>
              <a:rPr lang="ru-RU" dirty="0"/>
            </a:br>
            <a:r>
              <a:rPr lang="ru-RU" dirty="0"/>
              <a:t>– фиксация нарушений в оценочном листе и акте проверки.</a:t>
            </a:r>
          </a:p>
          <a:p>
            <a:pPr>
              <a:buFont typeface="+mj-lt"/>
              <a:buAutoNum type="arabicPeriod"/>
            </a:pPr>
            <a:r>
              <a:rPr lang="ru-RU" dirty="0"/>
              <a:t>Научиться формулировать выводы по результатам проверки и составлять предписание об устранении нарушений.</a:t>
            </a:r>
          </a:p>
          <a:p>
            <a:pPr>
              <a:buFont typeface="+mj-lt"/>
              <a:buAutoNum type="arabicPeriod"/>
            </a:pPr>
            <a:r>
              <a:rPr lang="ru-RU" dirty="0"/>
              <a:t>Оценить значение лицензионного контроля для обеспечения информационной безопасности и защиты сведений конфиденциального характера в коммерческих организациях.</a:t>
            </a:r>
          </a:p>
        </p:txBody>
      </p:sp>
    </p:spTree>
    <p:extLst>
      <p:ext uri="{BB962C8B-B14F-4D97-AF65-F5344CB8AC3E}">
        <p14:creationId xmlns:p14="http://schemas.microsoft.com/office/powerpoint/2010/main" val="835692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461A9-A43C-69D4-E431-6B7B3664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384047"/>
            <a:ext cx="10772775" cy="786131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 специалиста ФСТЭК (в рамках практического занятия)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048361-95D1-4F5D-BAC1-EE59A18AB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027" y="1321588"/>
            <a:ext cx="116979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Необходимо провести: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анализ документов, подтверждающих соблюдение лицензионных требований;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составление оценочного листа и акта проверки;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подготовку предписания при выявлении нарушений;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оформление заключения по итогам проверки;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краткое представление результатов комиссии (устно и письменно).</a:t>
            </a:r>
          </a:p>
        </p:txBody>
      </p:sp>
    </p:spTree>
    <p:extLst>
      <p:ext uri="{BB962C8B-B14F-4D97-AF65-F5344CB8AC3E}">
        <p14:creationId xmlns:p14="http://schemas.microsoft.com/office/powerpoint/2010/main" val="389365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C3192-81BF-62E2-B805-48A74BED7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7" y="160590"/>
            <a:ext cx="10772775" cy="86233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Этап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423D1BC0-91EA-4144-B3CC-F05504D0A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1342" y="1825625"/>
            <a:ext cx="9469315" cy="435133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E9FBD9-A2CC-437A-8019-B2A30C0F40B8}"/>
              </a:ext>
            </a:extLst>
          </p:cNvPr>
          <p:cNvSpPr txBox="1"/>
          <p:nvPr/>
        </p:nvSpPr>
        <p:spPr>
          <a:xfrm>
            <a:off x="2413687" y="1359243"/>
            <a:ext cx="817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Чек-лист задач по проверки соответствия требованиям ФСТЭК</a:t>
            </a:r>
            <a:r>
              <a:rPr lang="en-US" dirty="0"/>
              <a:t>/</a:t>
            </a:r>
            <a:r>
              <a:rPr lang="ru-RU" dirty="0"/>
              <a:t>РФ в организации </a:t>
            </a:r>
          </a:p>
        </p:txBody>
      </p:sp>
    </p:spTree>
    <p:extLst>
      <p:ext uri="{BB962C8B-B14F-4D97-AF65-F5344CB8AC3E}">
        <p14:creationId xmlns:p14="http://schemas.microsoft.com/office/powerpoint/2010/main" val="271699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070627-8A00-FE54-4F52-87949DD9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23825"/>
            <a:ext cx="10772775" cy="909956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правовые акты и требования на наличие документов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58ED9B0-4B95-493E-BA92-4CB2AB3BA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392" y="1019175"/>
            <a:ext cx="8653141" cy="5876925"/>
          </a:xfrm>
        </p:spPr>
      </p:pic>
    </p:spTree>
    <p:extLst>
      <p:ext uri="{BB962C8B-B14F-4D97-AF65-F5344CB8AC3E}">
        <p14:creationId xmlns:p14="http://schemas.microsoft.com/office/powerpoint/2010/main" val="2606877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C24F9-E39F-866E-9715-F1BF783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338327"/>
            <a:ext cx="10772775" cy="88671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Этап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86A542-70B6-4354-89D5-968EEE6B37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7224" y="1145656"/>
            <a:ext cx="6154377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Какие документы должны быть до</a:t>
            </a:r>
            <a:r>
              <a:rPr lang="en-US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/</a:t>
            </a: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вовремя</a:t>
            </a:r>
            <a:r>
              <a:rPr lang="en-US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/</a:t>
            </a: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после проверки?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Распоряжение (Приказ)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Уведомление организации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проверки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Оценочный лист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Акт проверки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Заключение о соответствии требованиям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Предписание (если есть нарушения)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Справка в Центр лицензирования ФСТЭК</a:t>
            </a:r>
          </a:p>
        </p:txBody>
      </p:sp>
    </p:spTree>
    <p:extLst>
      <p:ext uri="{BB962C8B-B14F-4D97-AF65-F5344CB8AC3E}">
        <p14:creationId xmlns:p14="http://schemas.microsoft.com/office/powerpoint/2010/main" val="156490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CEDD199-D07D-CB4D-88AE-2970A047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29999" y="1447799"/>
            <a:ext cx="333376" cy="709931"/>
          </a:xfrm>
        </p:spPr>
        <p:txBody>
          <a:bodyPr>
            <a:normAutofit/>
          </a:bodyPr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EFF634-07BE-4E1E-2BF8-136BEEF25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76225"/>
            <a:ext cx="10753725" cy="67246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Внутренний приказ от руководителя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F2DEA4-FB2E-4783-84B3-D266F68F3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98" y="1117705"/>
            <a:ext cx="10898659" cy="50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1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CEDD199-D07D-CB4D-88AE-2970A047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29999" y="1447799"/>
            <a:ext cx="333376" cy="709931"/>
          </a:xfrm>
        </p:spPr>
        <p:txBody>
          <a:bodyPr>
            <a:normAutofit/>
          </a:bodyPr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EFF634-07BE-4E1E-2BF8-136BEEF25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76225"/>
            <a:ext cx="10753725" cy="67246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Направляем уведомление организации:</a:t>
            </a: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E5330E-6421-4392-A0FF-3F7EA1C64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10" y="996778"/>
            <a:ext cx="9946633" cy="460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16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66C1C-FCD1-FD3E-4C10-19D084796965}"/>
              </a:ext>
            </a:extLst>
          </p:cNvPr>
          <p:cNvSpPr txBox="1"/>
          <p:nvPr/>
        </p:nvSpPr>
        <p:spPr>
          <a:xfrm>
            <a:off x="4283933" y="496371"/>
            <a:ext cx="44672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проверки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20344FE-1A0E-4C76-BA4D-7ACFAD47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5657"/>
            <a:ext cx="12192000" cy="545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9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66C1C-FCD1-FD3E-4C10-19D084796965}"/>
              </a:ext>
            </a:extLst>
          </p:cNvPr>
          <p:cNvSpPr txBox="1"/>
          <p:nvPr/>
        </p:nvSpPr>
        <p:spPr>
          <a:xfrm>
            <a:off x="4954545" y="499533"/>
            <a:ext cx="44672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Оценочный лист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304ABE-05D6-4D87-A35F-4B012FDAD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73" y="873210"/>
            <a:ext cx="11099653" cy="598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669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6E47F-3D0C-F306-716D-761A8F821E35}"/>
              </a:ext>
            </a:extLst>
          </p:cNvPr>
          <p:cNvSpPr txBox="1"/>
          <p:nvPr/>
        </p:nvSpPr>
        <p:spPr>
          <a:xfrm>
            <a:off x="4914900" y="5609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 проверки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E44521-78E2-4FCB-AAB9-8642AD298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" y="1040205"/>
            <a:ext cx="12192000" cy="550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7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6E47F-3D0C-F306-716D-761A8F821E35}"/>
              </a:ext>
            </a:extLst>
          </p:cNvPr>
          <p:cNvSpPr txBox="1"/>
          <p:nvPr/>
        </p:nvSpPr>
        <p:spPr>
          <a:xfrm>
            <a:off x="4267199" y="4995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о проведения проверки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005268-9051-4E20-B68A-43D3532B4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3520"/>
            <a:ext cx="12192000" cy="553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17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66C1C-FCD1-FD3E-4C10-19D084796965}"/>
              </a:ext>
            </a:extLst>
          </p:cNvPr>
          <p:cNvSpPr txBox="1"/>
          <p:nvPr/>
        </p:nvSpPr>
        <p:spPr>
          <a:xfrm>
            <a:off x="4957634" y="496371"/>
            <a:ext cx="4467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Предписание организации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13A0DF-9F46-49BC-B3EB-93B87D692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8281" y="1070233"/>
            <a:ext cx="12192000" cy="544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45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</TotalTime>
  <Words>372</Words>
  <Application>Microsoft Office PowerPoint</Application>
  <PresentationFormat>Широкоэкранный</PresentationFormat>
  <Paragraphs>51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Times New Roman</vt:lpstr>
      <vt:lpstr>Office Theme</vt:lpstr>
      <vt:lpstr>Специалист ФСТЭК – Деревянченко В.П.</vt:lpstr>
      <vt:lpstr>Цели и задачи</vt:lpstr>
      <vt:lpstr>Роль специалиста ФСТЭК (в рамках практического занятия)</vt:lpstr>
      <vt:lpstr>1 Этап</vt:lpstr>
      <vt:lpstr>Ссылка на правовые акты и требования на наличие документов</vt:lpstr>
      <vt:lpstr>2 Этап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Специалист ФСТЭК – Деревянченко В.П.</dc:title>
  <dc:creator>kek0l</dc:creator>
  <cp:lastModifiedBy>Татьяна Морозова</cp:lastModifiedBy>
  <cp:revision>36</cp:revision>
  <dcterms:created xsi:type="dcterms:W3CDTF">2025-09-18T20:53:49Z</dcterms:created>
  <dcterms:modified xsi:type="dcterms:W3CDTF">2025-10-11T14:09:32Z</dcterms:modified>
</cp:coreProperties>
</file>