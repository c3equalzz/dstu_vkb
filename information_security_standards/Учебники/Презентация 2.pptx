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0264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6457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828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9361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100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874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484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4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694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2770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529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5379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438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0230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228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191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50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  <a:defRPr sz="2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None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None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 rot="5400000">
            <a:off x="4991100" y="2933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 rot="5400000">
            <a:off x="838200" y="76200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 rot="5400000">
            <a:off x="2409825" y="296862"/>
            <a:ext cx="43243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 rot="-5400000">
            <a:off x="3393017" y="3156577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w="508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1750" dir="48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Georgia"/>
              <a:buNone/>
              <a:defRPr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6088443" y="3274308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00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Georgia"/>
              <a:buNone/>
              <a:defRPr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eorgia"/>
              <a:buNone/>
              <a:defRPr sz="12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  <a:defRPr sz="9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sz="1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5353496" y="2010727"/>
            <a:ext cx="3383280" cy="461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eorgia"/>
              <a:buNone/>
              <a:defRPr sz="12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  <a:defRPr sz="9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2"/>
          </p:nvPr>
        </p:nvSpPr>
        <p:spPr>
          <a:xfrm>
            <a:off x="152400" y="776287"/>
            <a:ext cx="5102352" cy="585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Georgia"/>
              <a:buChar char="•"/>
              <a:defRPr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64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Char char="▫"/>
              <a:defRPr sz="28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⚫"/>
              <a:defRPr sz="2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body" idx="1"/>
          </p:nvPr>
        </p:nvSpPr>
        <p:spPr>
          <a:xfrm>
            <a:off x="457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92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Georgia"/>
              <a:buChar char="▫"/>
              <a:defRPr sz="19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body" idx="2"/>
          </p:nvPr>
        </p:nvSpPr>
        <p:spPr>
          <a:xfrm>
            <a:off x="4648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92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Georgia"/>
              <a:buChar char="▫"/>
              <a:defRPr sz="19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sz="4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Georgia"/>
              <a:buNone/>
              <a:defRPr sz="2100" b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None/>
              <a:defRPr sz="18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Georgia"/>
              <a:buNone/>
              <a:defRPr sz="1900" b="1" i="0" u="none" strike="noStrike" cap="none">
                <a:solidFill>
                  <a:srgbClr val="41414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1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body" idx="2"/>
          </p:nvPr>
        </p:nvSpPr>
        <p:spPr>
          <a:xfrm>
            <a:off x="4721225" y="2244970"/>
            <a:ext cx="4041775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Georgia"/>
              <a:buNone/>
              <a:defRPr sz="1900" b="1" i="0" u="none" strike="noStrike" cap="none">
                <a:solidFill>
                  <a:srgbClr val="41414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1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3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sz="16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4"/>
          </p:nvPr>
        </p:nvSpPr>
        <p:spPr>
          <a:xfrm>
            <a:off x="4718304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sz="16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 rot="10800000" flipH="1">
            <a:off x="5410200" y="3810000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" name="Google Shape;7;p1"/>
          <p:cNvSpPr txBox="1"/>
          <p:nvPr/>
        </p:nvSpPr>
        <p:spPr>
          <a:xfrm rot="10800000" flipH="1">
            <a:off x="5410200" y="3897312"/>
            <a:ext cx="3733800" cy="19208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" name="Google Shape;8;p1"/>
          <p:cNvSpPr txBox="1"/>
          <p:nvPr/>
        </p:nvSpPr>
        <p:spPr>
          <a:xfrm rot="10800000" flipH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" name="Google Shape;9;p1"/>
          <p:cNvSpPr txBox="1"/>
          <p:nvPr/>
        </p:nvSpPr>
        <p:spPr>
          <a:xfrm rot="10800000" flipH="1">
            <a:off x="5410200" y="4164012"/>
            <a:ext cx="1965325" cy="19050"/>
          </a:xfrm>
          <a:prstGeom prst="rect">
            <a:avLst/>
          </a:prstGeom>
          <a:solidFill>
            <a:schemeClr val="accent2">
              <a:alpha val="59607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Google Shape;10;p1"/>
          <p:cNvSpPr txBox="1"/>
          <p:nvPr/>
        </p:nvSpPr>
        <p:spPr>
          <a:xfrm rot="10800000" flipH="1">
            <a:off x="5410200" y="4198937"/>
            <a:ext cx="1965325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410200" y="3962400"/>
            <a:ext cx="3063875" cy="2698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7377112" y="4060825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3649662"/>
            <a:ext cx="9144000" cy="2444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3675062"/>
            <a:ext cx="9144000" cy="141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10800000" flipH="1">
            <a:off x="6413500" y="3643312"/>
            <a:ext cx="2730500" cy="247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dt" idx="10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ftr" idx="11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3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3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209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Стандарты информационной безопасности:</a:t>
            </a:r>
            <a:b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</a:t>
            </a:r>
            <a:b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 изучения темы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изучить основные положения международного стандарта ISO/IEC 15408 по оценке защищенности информационных систем.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к знаниям и умениям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основное содержание оценочного стандарта ISO/IEC 15408;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отличия функциональных требований от требований доверия;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функциональных требований и требований доверия.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должен уметь: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использовать стандарт для оценки защищенности информационных систем.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термин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термин: стандарт ISO/IEC 15408 "Критерии оценки безопасности информационных технологий".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 "Общие критерии" – метастандарт, определяющий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Второстепенные термины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доверия.</a:t>
            </a:r>
            <a:endParaRPr/>
          </a:p>
          <a:p>
            <a:pPr marL="365760" marR="0" lvl="0" indent="-1417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457200" y="620712"/>
            <a:ext cx="82296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безопасности к информационным системам</a:t>
            </a: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63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 Этот международный стандарт стал итогом почти десятилетней работы специалистов нескольких стран. Он вобрал в себя опыт существовавших к тому времени документов национального и межнационального масштаба. Именно поэтому этот стандарт очень часто называют "Общими критериями".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являются метастандартом, определяющим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и "Оранжевая книга", "Общие критерии" содержат два основных вида требований безопасности: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соответствуют активному аспекту защиты – предъявляемые к функциям безопасности и реализующим их механизмам;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соответствуют пассивному аспекту – предъявляемые к технологии и процессу разработки и эксплуатации.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457200" y="765175"/>
            <a:ext cx="822960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отличие от "Оранжевой книги", "Общие критерии" не содержат предопределенных "классов безопасности". Такие классы можно строить, исходя из требований безопасности, существующих для конкретной организации и/или конкретной информационной системы.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Очень важно, что безопасность в "Общих критериях" рассматривается не статично, а в привязке к жизненному циклу объекта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Угрозы безопасности в стандарте характеризуются следующими параметрами: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 угрозы;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 воздействия;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уязвимые места, которые могут быть использованы;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ресурсы (активы), которые могут пострадать.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иерархии: класс – семейство – компонент – элемент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457200" y="1700212"/>
            <a:ext cx="8229600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структуризации пространства требований, в "Общих критериях" введена иерархия класс – семейство – компонент – элемент.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определяют наиболее общую, "предметную" группировку требований (например, функциональные требования подотчетности).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Семейства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пределах класса различаются по строгости и другим тонкостям требований.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минимальный набор требований, фигурирующий как целое.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неделимое требование.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Между компонентами могут существовать зависимости, которые возникают, когда компонент сам по себе недостаточен для достижения цели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Подобный принцип организации защиты напоминает принцип программирования с использованием библиотек, в которых содержатся стандартные (часто используемые) функции, из комбинаций которых формируется алгоритм решения.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457200" y="836612"/>
            <a:ext cx="8229600" cy="528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позволяют с помощью подобных библиотек (компонент) формировать два вида нормативных документов: профиль защиты и задание по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Профиль защиты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представляет собой типовой набор требований, которым должны удовлетворять продукты и/или системы определенного класса (например, операционные системы на компьютерах в правительственных организациях).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Задание по безопасности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содержит совокупность требований к конкретной разработке, выполнение которых обеспечивает достижение поставленных целей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Функциональный пакет – это неоднократно используемая совокупность компонентов, объединенных для достижения определенных целей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Базовый профиль защиты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должен включать требования к основным (обязательным в любом случае) возможностям. Производные профили получаются из базового путем добавления необходимых пакетов расширения, то есть подобно тому, как создаются производные классы в объектно-ориентированных языках программирования.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объединены в группы на основе выполняемой ими роли или обслуживаемой цели безопасности. Всего в "Общих критериях" представлено 11 функциональных классов, 66 семейств, 135 компонентов. Это гораздо больше, чем число аналогичных понятий в "Оранжевой книге".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включают следующие классы функциональных требований: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Идентификация и аутентификация.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 данных пользователя.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 функций безопасности (требования относятся к целостности и контролю данных сервисов безопасности и реализующих их механизмов).</a:t>
            </a:r>
            <a:endParaRPr/>
          </a:p>
          <a:p>
            <a:pPr marL="365760" marR="0" lvl="0" indent="-1036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457200" y="765175"/>
            <a:ext cx="822960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безопасностью (требования этого класса относятся к управлению атрибутами и параметрами безопасности).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Аудит безопасности (выявление, регистрация, хранение, анализ данных, затрагивающих безопасность объекта оценки, реагирование на возможное нарушение безопасности).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Доступ к объекту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Приватность (защита пользователя от раскрытия и несанкционированного использования его идентификационных данных).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Использование ресурсов (требования к доступности информации).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Криптографическая поддержка (управление ключами).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Связь (аутентификация сторон, участвующих в обмене данными).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Доверенный маршрут/канал (для связи с сервисами безопасности).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457200" y="1052512"/>
            <a:ext cx="8229600" cy="507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Рассмотрим содержание одного из классов.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 функциональных требований "Использование ресурсов" включает три семейства.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Отказоустойчивость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Требования этого семейства направлены на сохранение доступности информационных сервисов даже в случае сбоя или отказа. В стандарте различаются активная и пассивная отказоустойчивость. Активный механизм содержит специальные функции, которые активизируются в случае сбоя. Пассивная отказоустойчивость подразумевает наличие избыточности с возможностью нейтрализации ошибок.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Обслуживание по приоритетам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Выполнение этих требований позволяет управлять использованием ресурсов так, что низкоприоритетные операции не могут помешать высокоприоритетным.</a:t>
            </a:r>
            <a:endParaRPr/>
          </a:p>
          <a:p>
            <a:pPr marL="365760" marR="0" lvl="0" indent="-1036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Распределение ресурсов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Требования направлены на защиту (путем применения механизма квот) от несанкционированной монополизации ресурсов.</a:t>
            </a:r>
            <a:endParaRPr/>
          </a:p>
          <a:p>
            <a:pPr marL="365125" marR="0" lvl="0" indent="-25558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Аналогично и другие классы включают наборы семейств требований, которые используются для формулировки требований к системе безопасности.</a:t>
            </a:r>
            <a:endParaRPr/>
          </a:p>
          <a:p>
            <a:pPr marL="365125" marR="0" lvl="0" indent="-25558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– достаточно продуманный и полный документ с точки зрения функциональных требований и именно на этот стандарт безопасности ориентируются соответствующие организации в нашей стране и в первую очередь Гостехкомиссия РФ.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511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 форма требований безопасности в "Общих критериях" – требования доверия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Установление доверия безопасности основывается на активном исследовании объекта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 представления требований доверия, та же, что и для функциональных требований (класс – семейство – компонент).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Всего в "Общих критериях" 10 классов, 44 семейства, 93 компонента требований доверия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требований доверия безопасности:</a:t>
            </a:r>
            <a:endParaRPr sz="23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(требования для поэтапной детализации функций безопасности от краткой спецификации до реализации).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жизненного цикла (требования к модели жизненного цикла, включая порядок устранения недостатков и защиту среды разработки).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Тестирование.</a:t>
            </a:r>
            <a:endParaRPr/>
          </a:p>
          <a:p>
            <a:pPr marL="365760" marR="0" lvl="0" indent="-10998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endParaRPr sz="23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body" idx="1"/>
          </p:nvPr>
        </p:nvSpPr>
        <p:spPr>
          <a:xfrm>
            <a:off x="457200" y="1341437"/>
            <a:ext cx="8229600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уязвимостей (включая оценку стойкости функций безопасности).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Поставка и эксплуатация.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конфигурацией.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Руководства (требования к эксплуатационной документации).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доверия (для поддержки этапов жизненного цикла после сертификации).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профиля защиты.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задания по безопасности.</a:t>
            </a:r>
            <a:endParaRPr/>
          </a:p>
          <a:p>
            <a:pPr marL="365760" marR="0" lvl="0" indent="-782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39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Применительно к требованиям доверия (для функциональных требований не предусмотрены) в "Общих критериях" введены оценочные уровни доверия (их семь), содержащие осмысленные комбинации компонентов.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Степень доверия возрастает от первого к седьмому уровню. Так, оценочный уровень доверия 1 (начальный) применяется, когда угрозы не рассматриваются как серьезные, а оценочный уровень 7 применяется к ситуациям чрезвычайно высокого риска.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 по теме</a:t>
            </a:r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являются стандартом, определяющим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содержат два основных вида требований безопасности:</a:t>
            </a:r>
            <a:endParaRPr/>
          </a:p>
          <a:p>
            <a:pPr marL="657225" marR="0" lvl="1" indent="-246062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Georgia"/>
              <a:buChar char="▫"/>
            </a:pPr>
            <a:r>
              <a:rPr lang="en-US" sz="2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– соответствуют активному аспекту защиты – предъявляемые к функциям безопасности и реализующим их механизмам;</a:t>
            </a:r>
            <a:endParaRPr/>
          </a:p>
          <a:p>
            <a:pPr marL="657225" marR="0" lvl="1" indent="-246062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Georgia"/>
              <a:buChar char="▫"/>
            </a:pPr>
            <a:r>
              <a:rPr lang="en-US" sz="2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 – соответствуют пассивному аспекту – предъявляемые к технологии и процессу разработки и эксплуатации.</a:t>
            </a:r>
            <a:endParaRPr/>
          </a:p>
          <a:p>
            <a:pPr marL="365760" marR="0" lvl="0" indent="-1163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Georgia"/>
              <a:buNone/>
            </a:pPr>
            <a:endParaRPr sz="22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body" idx="1"/>
          </p:nvPr>
        </p:nvSpPr>
        <p:spPr>
          <a:xfrm>
            <a:off x="457200" y="69215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Угрозы безопасности в стандарте характеризуются следующими параметрами: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 угрозы;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 воздействия;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уязвимые места, которые могут быть использованы;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ресурсы (активы), которые могут пострадать.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структуризации пространства требований в "Общих критериях" введена иерархия класс – семейство – компонент – элемент.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определяют наиболее общую, "предметную" группировку требований (например, функциональные требования подотчетности).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Семейства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пределах класса различаются по строгости и другим тонкостям требований.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минимальный набор требований, фигурирующий как целое.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неделимое требование.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body" idx="1"/>
          </p:nvPr>
        </p:nvSpPr>
        <p:spPr>
          <a:xfrm>
            <a:off x="91440" y="765175"/>
            <a:ext cx="905256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r>
              <a:rPr lang="en-US" sz="28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Вопросы</a:t>
            </a:r>
            <a:r>
              <a:rPr lang="en-US" sz="2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2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самоконтроля</a:t>
            </a:r>
            <a:endParaRPr dirty="0"/>
          </a:p>
          <a:p>
            <a:pPr marL="365125" marR="0" lvl="0" indent="-25558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Какие виды требований включает стандарт ISO/IEC 15408?</a:t>
            </a:r>
            <a:endParaRPr lang="ru-RU" sz="2000" dirty="0">
              <a:ea typeface="Times New Roman"/>
              <a:cs typeface="Times New Roman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Чем отличаются функциональные требования от требований доверия?</a:t>
            </a:r>
            <a:endParaRPr lang="ru-RU" sz="2000" dirty="0" smtClean="0"/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В чем заключается иерархический принцип </a:t>
            </a: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"класс – семейство – компонент – элемент"?</a:t>
            </a:r>
            <a:endParaRPr lang="ru-RU" sz="2000" dirty="0" smtClean="0"/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Какова цель требований по отказоустойчивости информационных систем?</a:t>
            </a:r>
            <a:endParaRPr lang="ru-RU" sz="2000" dirty="0" smtClean="0"/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ru-RU" sz="20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Сколько классов функциональных требований?</a:t>
            </a:r>
            <a:endParaRPr lang="ru-RU" sz="2000" dirty="0" smtClean="0"/>
          </a:p>
          <a:p>
            <a:pPr marL="365760" marR="0" lvl="0" indent="-782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Microsoft Office PowerPoint</Application>
  <PresentationFormat>Экран (4:3)</PresentationFormat>
  <Paragraphs>106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Georgia</vt:lpstr>
      <vt:lpstr>Noto Sans Symbols</vt:lpstr>
      <vt:lpstr>Times New Roman</vt:lpstr>
      <vt:lpstr>Trebuchet MS</vt:lpstr>
      <vt:lpstr>1_Городская</vt:lpstr>
      <vt:lpstr>Городская</vt:lpstr>
      <vt:lpstr>2_Городская</vt:lpstr>
      <vt:lpstr>3_Городская</vt:lpstr>
      <vt:lpstr>Стандарты информационной безопасности: "Общие критерии" </vt:lpstr>
      <vt:lpstr>Введение</vt:lpstr>
      <vt:lpstr>Требования безопасности к информационным системам</vt:lpstr>
      <vt:lpstr>Презентация PowerPoint</vt:lpstr>
      <vt:lpstr>Принцип иерархии: класс – семейство – компонент – элемент</vt:lpstr>
      <vt:lpstr>Презентация PowerPoint</vt:lpstr>
      <vt:lpstr>Функциональные требования</vt:lpstr>
      <vt:lpstr>Презентация PowerPoint</vt:lpstr>
      <vt:lpstr>Презентация PowerPoint</vt:lpstr>
      <vt:lpstr>Презентация PowerPoint</vt:lpstr>
      <vt:lpstr>Требования доверия</vt:lpstr>
      <vt:lpstr>Презентация PowerPoint</vt:lpstr>
      <vt:lpstr>Презентация PowerPoint</vt:lpstr>
      <vt:lpstr>Выводы по теме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Стандарты информационной безопасности: "Общие критерии" </dc:title>
  <dc:creator>Лариса</dc:creator>
  <cp:lastModifiedBy>Учетная запись Майкрософт</cp:lastModifiedBy>
  <cp:revision>1</cp:revision>
  <dcterms:modified xsi:type="dcterms:W3CDTF">2026-02-01T10:15:50Z</dcterms:modified>
</cp:coreProperties>
</file>