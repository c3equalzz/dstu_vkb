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3B66"/>
                </a:solidFill>
                <a:latin typeface="Times New Roman"/>
              </a:rPr>
              <a:t>Получение лицензии ФСТЭК России на деятельность
по технической защите конфиденциальной информации</a:t>
            </a:r>
          </a:p>
          <a:p>
            <a:pPr algn="ctr"/>
            <a:r>
              <a:rPr sz="2800" b="1">
                <a:solidFill>
                  <a:srgbClr val="404040"/>
                </a:solidFill>
                <a:latin typeface="Times New Roman"/>
              </a:rPr>
              <a:t>ООО «ТехноЩит»</a:t>
            </a:r>
          </a:p>
          <a:p>
            <a:pPr algn="ctr"/>
            <a:r>
              <a:rPr sz="1400" b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Times New Roman"/>
              </a:rPr>
              <a:t>Практическое занятие № 1. Федеральный закон от 04.05.2011 № 99-ФЗ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Times New Roman"/>
              </a:rPr>
              <a:t>Директор — Ермолаев Б.Ю.   •   Юрист — Голованов Ф.А.   •   Менеджер по адм. вопросам — Ковалев Д.П.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6"/>
                </a:solidFill>
                <a:latin typeface="Times New Roman"/>
              </a:rPr>
              <a:t>Выбранный вид деятельности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Подпункт 5 пункта 1 статьи 12 ФЗ-99 — деятельность по технической защите конфиденциальной информации (ТЗКИ)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Лицензирующий орган — ФСТЭК России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Лицензионные требования — постановление Правительства РФ от 03.02.2012 № 79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Форма заявления — приказ ФСТЭК России от 12.01.2023 № 3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Почему ТЗКИ: соответствует профилю подготовки, услуги востребованы операторами ПДн и владельцами автоматизированных систем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6"/>
                </a:solidFill>
                <a:latin typeface="Times New Roman"/>
              </a:rPr>
              <a:t>Концепция компании ООО «ТехноЩит»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Миссия: техническая защита конфиденциальной информации организаций Юга России — от малого бизнеса до операторов персональных данных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Виды работ и услуг (п. 4 Положения, ПП РФ № 79):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Times New Roman"/>
              </a:rPr>
              <a:t>– контроль защищённости от утечки по техническим каналам;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Times New Roman"/>
              </a:rPr>
              <a:t>– контроль защищённости от несанкционированного доступа;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Times New Roman"/>
              </a:rPr>
              <a:t>– аттестационные испытания и аттестация средств и систем информатизации, помещений;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Times New Roman"/>
              </a:rPr>
              <a:t>– установка, монтаж, наладка, испытания и ремонт средств защиты информации.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ОПФ — ООО, УСН; персонал — 8 человек, в т.ч. уполномоченный по ТЗКИ и 2 инженерно-технических работника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6"/>
                </a:solidFill>
                <a:latin typeface="Times New Roman"/>
              </a:rPr>
              <a:t>Как мы распределяли обязанности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Директор (Ермолаев Б.Ю.) — стратегия: выбор вида деятельности, цели компании, заявление о предоставлении лицензии (ст. 13 ФЗ-99)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Юрист (Голованов Ф.А.) — перечень документов для лицензирующего органа, правовые основания, проверка соответствия ст. 13 ФЗ-99 и п. 8 Положения (ПП РФ № 79)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Менеджер по адм. вопросам (Ковалев Д.П.) — техническая часть: план помещения, материально-техническая база, содержательная часть документов, пояснительная записка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6"/>
                </a:solidFill>
                <a:latin typeface="Times New Roman"/>
              </a:rPr>
              <a:t>Подготовленный пакет документов (№ 0–37)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Заявление по форме приказа ФСТЭК № 3 с приложениями № 1–8 и описью вложения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Учредительные документы: решение о создании, устав, выписка из ЕГРЮЛ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Персонал: справка о квалификации, приказы о назначении, гарантийное письмо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Материально-техническая база: договор аренды, справка о МТО, договор купли-продажи оборудования, перечень сертифицированных СЗИ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Защищаемые объекты: техпаспорта помещений, акт классификации АС, сертификат соответствия СЗИ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Организационные документы: приказ о защите конфиденциальной информации, перечень сведений, положение о коммерческой тайне, модель нарушителя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Сопутствующий блок: пожарная безопасность, персональные данные (152-ФЗ), доступность для инвалидов, вывоз ТБО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3B66"/>
                </a:solidFill>
                <a:latin typeface="Times New Roman"/>
              </a:rPr>
              <a:t>План этажа и требования безопасности</a:t>
            </a:r>
          </a:p>
        </p:txBody>
      </p:sp>
      <p:pic>
        <p:nvPicPr>
          <p:cNvPr id="3" name="Picture 2" descr="План_этаж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196655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37160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Times New Roman"/>
              </a:rPr>
              <a:t>• Зона приёма клиентов отделена СКУД от рабочей зоны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Times New Roman"/>
              </a:rPr>
              <a:t>• Серверная и архив-сейфовая — в глубине этажа, доступ только для аттестованных специалистов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Times New Roman"/>
              </a:rPr>
              <a:t>• Видеонаблюдение (К1, К2) и пропускной режим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Times New Roman"/>
              </a:rPr>
              <a:t>• Выделенный контур обработки конфиденциальной информации, физически отделённый от Интернета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6"/>
                </a:solidFill>
                <a:latin typeface="Times New Roman"/>
              </a:rPr>
              <a:t>Соответствие лицензионным требованиям (п. 5 ПП РФ № 79)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Персонал: уполномоченный руководить работами + 2 инженерно-технических работника с профильным высшим образованием и стажем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Нежилые помещения на законном основании (договор аренды № 25/08)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Сертифицированные СЗИ: Astra Linux SE, «СекретНет Studio», АПКШ «Континент 4», СКЗИ «VipNet» (сертификат ФСБ)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Аттестованная АС класса 3Г, техпаспорта защищаемых помещений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Оборудование с поверкой, техдокументация и стандарты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Каждое требование подтверждено документом из пакета (п. 8 Положения)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66"/>
                </a:solidFill>
                <a:latin typeface="Times New Roman"/>
              </a:rPr>
              <a:t>Трудности и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Трудности: большой объём приложений к заявлению, согласование реквизитов и дат между документами, разграничение компетенций ФСТЭК и ФСБ (сертификация СКЗИ)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Навыки: работа с текстом закона (ФЗ-99, ПП РФ № 79), делопроизводство, подготовка официальных документов, командное распределение ролей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04040"/>
                </a:solidFill>
                <a:latin typeface="Times New Roman"/>
              </a:rPr>
              <a:t>• Вывод: лицензирование — инструмент государственного контроля, обеспечивающий безопасность конфиденциальной информации; каждое лицензионное требование должно иметь документальное подтверждение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