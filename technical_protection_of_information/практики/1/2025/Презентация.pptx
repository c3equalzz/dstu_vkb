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4" r:id="rId9"/>
    <p:sldId id="267" r:id="rId10"/>
    <p:sldId id="266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8420C-0924-4B30-885E-130CD60A66A7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B3D9F-CCFB-4AD8-AF74-C28DAA75DA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47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B3D9F-CCFB-4AD8-AF74-C28DAA75DA3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10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14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567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79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87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47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92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20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08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759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93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4D42B41-A239-4C6E-96C5-B3F4D3E188E8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11F4885-6277-468B-9471-51C75163A5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78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6E6CF-73F8-3C2D-62F5-3BC769342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794595"/>
            <a:ext cx="10782300" cy="1706880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Школа подготовки к ЕГЭ «</a:t>
            </a:r>
            <a:r>
              <a:rPr lang="ru-R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Соточка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18140F-FFEE-C944-D35A-5953A9D07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7603" y="4441613"/>
            <a:ext cx="9228201" cy="164592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 – Ковалев Данил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Юрист 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Лёза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Алексей Александрович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 – Ермолаев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Богдан Юрьевич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75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FBBB0-896F-C292-0022-DB642B7D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4" y="412876"/>
            <a:ext cx="10772775" cy="776987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Сфера деятельности, 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603CA8-FB28-36DC-CDB5-D232464E5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244728"/>
            <a:ext cx="10753725" cy="529323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Сфера деятельности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дополнительное образование (подготовка к ЕГЭ по математике).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онлайн-подготовка к ЕГЭ + офлайн-консультации в учебном кабинете.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доступная и качественная подготовка школьников к ЕГЭ по математике, сочетание онлайн и офлайн форматов.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обеспечить доступ к современному образованию;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создать комфортные условия обучения;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повысить средний балл выпускников;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поддержать равные возможности для всех (включая детей с ОВЗ).</a:t>
            </a:r>
          </a:p>
        </p:txBody>
      </p:sp>
    </p:spTree>
    <p:extLst>
      <p:ext uri="{BB962C8B-B14F-4D97-AF65-F5344CB8AC3E}">
        <p14:creationId xmlns:p14="http://schemas.microsoft.com/office/powerpoint/2010/main" val="835692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461A9-A43C-69D4-E431-6B7B3664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384047"/>
            <a:ext cx="10772775" cy="78613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Правовой статус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234060-9E64-577D-C215-8AF56FD9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380743"/>
            <a:ext cx="10753725" cy="4974337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Организационно-правовая форма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Индивидуальный предприниматель (ИП).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налогообложения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упрощённая система налогообложения (УСН).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ФЗ № 99-ФЗ «О лицензировании отдельных видов деятельности» и ФЗ № 273-ФЗ «Об образовании в РФ» позволяют ИП вести образовательную деятельность при наличии лицензии.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именно ИП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упрощённая регистрация и отчётность;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оптимальная налоговая нагрузка для образовательных услуг;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возможность официально нанимать педагогов;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полная легитимность для лицензирования.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89365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C3192-81BF-62E2-B805-48A74BED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7" y="160590"/>
            <a:ext cx="10772775" cy="86233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помещения</a:t>
            </a:r>
          </a:p>
        </p:txBody>
      </p:sp>
      <p:pic>
        <p:nvPicPr>
          <p:cNvPr id="5" name="Объект 4" descr="Изображение выглядит как зарисовка, рисунок, диаграмма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BC7CFBD-5A9B-95FF-C801-B2608EB52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979742"/>
            <a:ext cx="7658100" cy="538188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CF4DD6-39E5-3578-A58F-4A98CD34F54A}"/>
              </a:ext>
            </a:extLst>
          </p:cNvPr>
          <p:cNvSpPr txBox="1"/>
          <p:nvPr/>
        </p:nvSpPr>
        <p:spPr>
          <a:xfrm>
            <a:off x="7981951" y="259848"/>
            <a:ext cx="3943349" cy="6821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помещения включает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административно-приёмная (кабинет директора)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учебный кабинет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методический кабинет (подготовка материалов)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рхив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санузлы, гардероб.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дание находится в городской черте, рядом нет водоёмов, промышленных предприятий и опасного производства. 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аключён договор на вывоз отходов.</a:t>
            </a:r>
          </a:p>
          <a:p>
            <a:pPr algn="just">
              <a:lnSpc>
                <a:spcPct val="110000"/>
              </a:lnSpc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9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70627-8A00-FE54-4F52-87949DD9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123825"/>
            <a:ext cx="10772775" cy="909956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российских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9E048F-F2EA-74DF-1F53-440BCD088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019176"/>
            <a:ext cx="11000994" cy="587692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 и сервисы: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онлайн-занятий — платформа ВКонтакте (видеозвонки, трансляции, чаты)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внутреннего документооборота — офисные пакеты на базе российских решений («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МойОфис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обработки персональных данных — сервера, расположенные в РФ, в соответствии с 152-ФЗ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связи и интернета — договор с российским интернет-провайдером (ПАО «Ростелеком»)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Операционные системы: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рабочие места педагогов и учеников: Альт Образование (специализированная ОС для школ и учебных центров)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административные компьютеры: Астра Linux Special Edition (сертифицирована ФСТЭК, надёжная защита данных).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это важно: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соответствие требованиям законодательства РФ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гарантия безопасности данных школьников и сотрудников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поддержка политики импортозамещения.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87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C24F9-E39F-866E-9715-F1BF783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338327"/>
            <a:ext cx="10772775" cy="886715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 документов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5CD76D-58F5-1EBC-D241-87A22D41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335024"/>
            <a:ext cx="10753725" cy="4892040"/>
          </a:xfrm>
        </p:spPr>
        <p:txBody>
          <a:bodyPr/>
          <a:lstStyle/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Заявление о предоставлении лицензии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Справка об отсутствии судимости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Свидетельство о регистрации ИП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Выписка из ЕГРН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Справка о материально-техническом обеспечении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Справка о реализуемых образовательных программах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Санитарно-эпидемиологическое заключение (СЭЗ)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Сведения об условиях доступности для инвалидов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Гарантийное письмо о приёме на работу преподавателей</a:t>
            </a:r>
          </a:p>
          <a:p>
            <a:pPr marL="266700" indent="-266700">
              <a:buFont typeface="+mj-lt"/>
              <a:buAutoNum type="arabicPeriod"/>
              <a:tabLst>
                <a:tab pos="361950" algn="l"/>
                <a:tab pos="542925" algn="l"/>
              </a:tabLs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Договор об оказании платных образовательных услуг</a:t>
            </a:r>
          </a:p>
        </p:txBody>
      </p:sp>
    </p:spTree>
    <p:extLst>
      <p:ext uri="{BB962C8B-B14F-4D97-AF65-F5344CB8AC3E}">
        <p14:creationId xmlns:p14="http://schemas.microsoft.com/office/powerpoint/2010/main" val="156490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5EFF634-07BE-4E1E-2BF8-136BEEF2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76225"/>
            <a:ext cx="10753725" cy="67246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соблюдения норм безопасности: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Договор на вывоз ТБО и санитарное обслуживание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Приказ о назначении ответственного за пожарную безопасность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Инструкции по пожарной безопасности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Журнал инструктажей по пожарной безопасности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План эвакуации и акты о наличии огнетушителей</a:t>
            </a: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соблюдения закона о персональных данных: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Политика обработки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ПДн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Приказ о назначении ответственного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ПДн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Уведомление об обработке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ПДн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 Образовательная программа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 Положение об онлайн-школе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 Сертификат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 Договор купли-продажи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 Технический паспорт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CEDD199-D07D-CB4D-88AE-2970A047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429999" y="1447799"/>
            <a:ext cx="333376" cy="709931"/>
          </a:xfrm>
        </p:spPr>
        <p:txBody>
          <a:bodyPr>
            <a:normAutofit fontScale="90000"/>
          </a:bodyPr>
          <a:lstStyle/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731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84BA96-97FA-DA5E-9A86-E7B9B1B6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246" y="864447"/>
            <a:ext cx="5175978" cy="55340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1BA577-534D-DD20-DAFE-5DC24D373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46" y="864447"/>
            <a:ext cx="5343779" cy="5756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366C1C-FCD1-FD3E-4C10-19D084796965}"/>
              </a:ext>
            </a:extLst>
          </p:cNvPr>
          <p:cNvSpPr txBox="1"/>
          <p:nvPr/>
        </p:nvSpPr>
        <p:spPr>
          <a:xfrm>
            <a:off x="1343025" y="495115"/>
            <a:ext cx="4467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Заявление о предоставлении лицензии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6515100" y="497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Учредительный документ регистрации ИП</a:t>
            </a:r>
          </a:p>
        </p:txBody>
      </p:sp>
    </p:spTree>
    <p:extLst>
      <p:ext uri="{BB962C8B-B14F-4D97-AF65-F5344CB8AC3E}">
        <p14:creationId xmlns:p14="http://schemas.microsoft.com/office/powerpoint/2010/main" val="26817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66C1C-FCD1-FD3E-4C10-19D084796965}"/>
              </a:ext>
            </a:extLst>
          </p:cNvPr>
          <p:cNvSpPr txBox="1"/>
          <p:nvPr/>
        </p:nvSpPr>
        <p:spPr>
          <a:xfrm>
            <a:off x="1733550" y="495115"/>
            <a:ext cx="4467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Технический паспорт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7400925" y="4951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 купли-продажи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66867B-CB9A-819B-F620-06BC337D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8" y="946785"/>
            <a:ext cx="5015904" cy="57116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64F982-DEC7-2A1D-8886-2B614A603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175" y="864447"/>
            <a:ext cx="6207281" cy="590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66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4914900" y="5609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Выписка из ЕГРН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E2C05C-9F0B-FBF2-7113-2BFEF0BA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76" y="964089"/>
            <a:ext cx="8874047" cy="577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3047999" y="4995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 реализации образовательных программ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C20B2C-53D3-ACF9-6063-BFFCC62DB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644" y="930248"/>
            <a:ext cx="9244711" cy="55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1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C6B48-8442-31B9-B2CF-58ADBA5F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342901" cy="1658198"/>
          </a:xfrm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71705-1E2C-3687-B351-21702367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66C1C-FCD1-FD3E-4C10-19D084796965}"/>
              </a:ext>
            </a:extLst>
          </p:cNvPr>
          <p:cNvSpPr txBox="1"/>
          <p:nvPr/>
        </p:nvSpPr>
        <p:spPr>
          <a:xfrm>
            <a:off x="2914650" y="489638"/>
            <a:ext cx="4467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СЭЗ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E47F-3D0C-F306-716D-761A8F821E35}"/>
              </a:ext>
            </a:extLst>
          </p:cNvPr>
          <p:cNvSpPr txBox="1"/>
          <p:nvPr/>
        </p:nvSpPr>
        <p:spPr>
          <a:xfrm>
            <a:off x="8039100" y="13115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61950" algn="l"/>
                <a:tab pos="542925" algn="l"/>
              </a:tabLst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 о вывозе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7FE7C8-36FF-A7C9-0CA3-AF5341AF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9" y="864262"/>
            <a:ext cx="5552753" cy="577786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D9F05E-0D22-8716-7EE8-86E165700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6900"/>
            <a:ext cx="5674664" cy="331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645521"/>
      </p:ext>
    </p:extLst>
  </p:cSld>
  <p:clrMapOvr>
    <a:masterClrMapping/>
  </p:clrMapOvr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TM03457491[[fn=Метрополия]]</Template>
  <TotalTime>206</TotalTime>
  <Words>569</Words>
  <Application>Microsoft Macintosh PowerPoint</Application>
  <PresentationFormat>Широкоэкранный</PresentationFormat>
  <Paragraphs>81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 Light</vt:lpstr>
      <vt:lpstr>Times New Roman</vt:lpstr>
      <vt:lpstr>Метрополия</vt:lpstr>
      <vt:lpstr>Школа подготовки к ЕГЭ «Соточка»</vt:lpstr>
      <vt:lpstr>Сфера деятельности, цель и задачи</vt:lpstr>
      <vt:lpstr>Правовой статус</vt:lpstr>
      <vt:lpstr>План помещения</vt:lpstr>
      <vt:lpstr>Использование российских решений</vt:lpstr>
      <vt:lpstr>Пакет документов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kek0l</dc:creator>
  <cp:lastModifiedBy>danil</cp:lastModifiedBy>
  <cp:revision>33</cp:revision>
  <dcterms:created xsi:type="dcterms:W3CDTF">2025-09-18T20:53:49Z</dcterms:created>
  <dcterms:modified xsi:type="dcterms:W3CDTF">2026-07-16T07:42:14Z</dcterms:modified>
</cp:coreProperties>
</file>